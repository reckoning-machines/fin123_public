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/Relationships>
</file>

<file path=ppt/slides/_rels/slide9.xml.rels><?xml version="1.0" encoding="UTF-8" standalone="yes"?>
<Relationships xmlns="http://schemas.openxmlformats.org/package/2006/relationships"></Relationships>
</file>

<file path=ppt/slides/_rels/slide10.xml.rels><?xml version="1.0" encoding="UTF-8" standalone="yes"?>
<Relationships xmlns="http://schemas.openxmlformats.org/package/2006/relationships"></Relationships>
</file>

<file path=ppt/slides/_rels/slide11.xml.rels><?xml version="1.0" encoding="UTF-8" standalone="yes"?>
<Relationships xmlns="http://schemas.openxmlformats.org/package/2006/relationships"></Relationships>
</file>

<file path=ppt/slides/_rels/slide12.xml.rels><?xml version="1.0" encoding="UTF-8" standalone="yes"?>
<Relationships xmlns="http://schemas.openxmlformats.org/package/2006/relationships"></Relationships>
</file>

<file path=ppt/slides/_rels/slide13.xml.rels><?xml version="1.0" encoding="UTF-8" standalone="yes"?>
<Relationships xmlns="http://schemas.openxmlformats.org/package/2006/relationships"></Relationships>
</file>

<file path=ppt/slides/_rels/slide14.xml.rels><?xml version="1.0" encoding="UTF-8" standalone="yes"?>
<Relationships xmlns="http://schemas.openxmlformats.org/package/2006/relationships"></Relationships>
</file>

<file path=ppt/slides/_rels/slide15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and"/>
          <p:cNvSpPr txBox="1"/>
          <p:nvPr/>
        </p:nvSpPr>
        <p:spPr>
          <a:xfrm>
            <a:off x="566928" y="585216"/>
            <a:ext cx="4023360" cy="67665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>
                <a:b/>
                <a:solidFill>
                  <a:srgbClr val="F5F7FA"/>
                </a:solidFill>
                <a:latin typeface="Inter"/>
                <a:cs typeface="Inter"/>
              </a:rPr>
              <a:t>$fin123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603504" y="121615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20" dirty="0">
                <a:b/>
                <a:solidFill>
                  <a:srgbClr val="AAB2BF"/>
                </a:solidFill>
                <a:latin typeface="Inter"/>
                <a:cs typeface="Inter"/>
              </a:rPr>
              <a:t>Decision Infrastructure for Investment Research</a:t>
            </a:r>
          </a:p>
        </p:txBody>
      </p:sp>
      <p:sp>
        <p:nvSpPr>
          <p:cNvPr id="12" name="Tagline"/>
          <p:cNvSpPr txBox="1"/>
          <p:nvPr/>
        </p:nvSpPr>
        <p:spPr>
          <a:xfrm>
            <a:off x="603504" y="5696712"/>
            <a:ext cx="6583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60" dirty="0">
                <a:b/>
                <a:solidFill>
                  <a:srgbClr val="F5F7FA"/>
                </a:solidFill>
                <a:latin typeface="Inter"/>
                <a:cs typeface="Inter"/>
              </a:rPr>
              <a:t>Investment decisions became production workflows.</a:t>
            </a:r>
          </a:p>
        </p:txBody>
      </p:sp>
      <p:sp>
        <p:nvSpPr>
          <p:cNvPr id="13" name="Data Infrastructure"/>
          <p:cNvSpPr/>
          <p:nvPr/>
        </p:nvSpPr>
        <p:spPr>
          <a:xfrm>
            <a:off x="777240" y="2011680"/>
            <a:ext cx="2743200" cy="2670048"/>
          </a:xfrm>
          <a:prstGeom prst="rect">
            <a:avLst/>
          </a:prstGeom>
          <a:solidFill>
            <a:srgbClr val="0D131B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Data Infrastructure heading"/>
          <p:cNvSpPr txBox="1"/>
          <p:nvPr/>
        </p:nvSpPr>
        <p:spPr>
          <a:xfrm>
            <a:off x="941832" y="2212848"/>
            <a:ext cx="2414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30" dirty="0">
                <a:b/>
                <a:solidFill>
                  <a:srgbClr val="F5F7FA"/>
                </a:solidFill>
                <a:latin typeface="Inter"/>
                <a:cs typeface="Inter"/>
              </a:rPr>
              <a:t>Data Infrastructure</a:t>
            </a:r>
          </a:p>
        </p:txBody>
      </p:sp>
      <p:sp>
        <p:nvSpPr>
          <p:cNvPr id="15" name="Bloomberg"/>
          <p:cNvSpPr/>
          <p:nvPr/>
        </p:nvSpPr>
        <p:spPr>
          <a:xfrm>
            <a:off x="1161288" y="2834640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6" name="Bloomberg text"/>
          <p:cNvSpPr txBox="1"/>
          <p:nvPr/>
        </p:nvSpPr>
        <p:spPr>
          <a:xfrm>
            <a:off x="1234440" y="293522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Bloomberg</a:t>
            </a:r>
          </a:p>
        </p:txBody>
      </p:sp>
      <p:sp>
        <p:nvSpPr>
          <p:cNvPr id="17" name="FactSet"/>
          <p:cNvSpPr/>
          <p:nvPr/>
        </p:nvSpPr>
        <p:spPr>
          <a:xfrm>
            <a:off x="1161288" y="3346704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8" name="FactSet text"/>
          <p:cNvSpPr txBox="1"/>
          <p:nvPr/>
        </p:nvSpPr>
        <p:spPr>
          <a:xfrm>
            <a:off x="1234440" y="3447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FactSet</a:t>
            </a:r>
          </a:p>
        </p:txBody>
      </p:sp>
      <p:sp>
        <p:nvSpPr>
          <p:cNvPr id="19" name="Visible Alpha"/>
          <p:cNvSpPr/>
          <p:nvPr/>
        </p:nvSpPr>
        <p:spPr>
          <a:xfrm>
            <a:off x="1161288" y="3858768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Visible Alpha text"/>
          <p:cNvSpPr txBox="1"/>
          <p:nvPr/>
        </p:nvSpPr>
        <p:spPr>
          <a:xfrm>
            <a:off x="1234440" y="39593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Visible Alpha</a:t>
            </a:r>
          </a:p>
        </p:txBody>
      </p:sp>
      <p:sp>
        <p:nvSpPr>
          <p:cNvPr id="21" name="Execution Infrastructure"/>
          <p:cNvSpPr/>
          <p:nvPr/>
        </p:nvSpPr>
        <p:spPr>
          <a:xfrm>
            <a:off x="4251960" y="2011680"/>
            <a:ext cx="2743200" cy="2670048"/>
          </a:xfrm>
          <a:prstGeom prst="rect">
            <a:avLst/>
          </a:prstGeom>
          <a:solidFill>
            <a:srgbClr val="0D131B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2" name="Execution Infrastructure heading"/>
          <p:cNvSpPr txBox="1"/>
          <p:nvPr/>
        </p:nvSpPr>
        <p:spPr>
          <a:xfrm>
            <a:off x="4416552" y="2212848"/>
            <a:ext cx="2414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30" dirty="0">
                <a:b/>
                <a:solidFill>
                  <a:srgbClr val="F5F7FA"/>
                </a:solidFill>
                <a:latin typeface="Inter"/>
                <a:cs typeface="Inter"/>
              </a:rPr>
              <a:t>Execution Infrastructure</a:t>
            </a:r>
          </a:p>
        </p:txBody>
      </p:sp>
      <p:sp>
        <p:nvSpPr>
          <p:cNvPr id="23" name="OMS"/>
          <p:cNvSpPr/>
          <p:nvPr/>
        </p:nvSpPr>
        <p:spPr>
          <a:xfrm>
            <a:off x="4636008" y="2834640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4" name="OMS text"/>
          <p:cNvSpPr txBox="1"/>
          <p:nvPr/>
        </p:nvSpPr>
        <p:spPr>
          <a:xfrm>
            <a:off x="4709160" y="293522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OMS</a:t>
            </a:r>
          </a:p>
        </p:txBody>
      </p:sp>
      <p:sp>
        <p:nvSpPr>
          <p:cNvPr id="25" name="EMS"/>
          <p:cNvSpPr/>
          <p:nvPr/>
        </p:nvSpPr>
        <p:spPr>
          <a:xfrm>
            <a:off x="4636008" y="3346704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EMS text"/>
          <p:cNvSpPr txBox="1"/>
          <p:nvPr/>
        </p:nvSpPr>
        <p:spPr>
          <a:xfrm>
            <a:off x="4709160" y="344728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EMS</a:t>
            </a:r>
          </a:p>
        </p:txBody>
      </p:sp>
      <p:sp>
        <p:nvSpPr>
          <p:cNvPr id="27" name="Risk"/>
          <p:cNvSpPr/>
          <p:nvPr/>
        </p:nvSpPr>
        <p:spPr>
          <a:xfrm>
            <a:off x="4636008" y="3858768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8" name="Risk text"/>
          <p:cNvSpPr txBox="1"/>
          <p:nvPr/>
        </p:nvSpPr>
        <p:spPr>
          <a:xfrm>
            <a:off x="4709160" y="39593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29" name="Compliance"/>
          <p:cNvSpPr/>
          <p:nvPr/>
        </p:nvSpPr>
        <p:spPr>
          <a:xfrm>
            <a:off x="4636008" y="4370832"/>
            <a:ext cx="1975104" cy="34747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0" name="Compliance text"/>
          <p:cNvSpPr txBox="1"/>
          <p:nvPr/>
        </p:nvSpPr>
        <p:spPr>
          <a:xfrm>
            <a:off x="4709160" y="447141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AAB2BF"/>
                </a:solidFill>
                <a:latin typeface="Inter"/>
                <a:cs typeface="Inter"/>
              </a:rPr>
              <a:t>Compliance</a:t>
            </a:r>
          </a:p>
        </p:txBody>
      </p:sp>
      <p:sp>
        <p:nvSpPr>
          <p:cNvPr id="31" name="Decision Infrastructure"/>
          <p:cNvSpPr/>
          <p:nvPr/>
        </p:nvSpPr>
        <p:spPr>
          <a:xfrm>
            <a:off x="8092440" y="2011680"/>
            <a:ext cx="2743200" cy="2670048"/>
          </a:xfrm>
          <a:prstGeom prst="rect">
            <a:avLst/>
          </a:prstGeom>
          <a:solidFill>
            <a:srgbClr val="0D131B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2" name="Decision Infrastructure heading"/>
          <p:cNvSpPr txBox="1"/>
          <p:nvPr/>
        </p:nvSpPr>
        <p:spPr>
          <a:xfrm>
            <a:off x="8257032" y="2212848"/>
            <a:ext cx="2414016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30" dirty="0">
                <a:b/>
                <a:solidFill>
                  <a:srgbClr val="F5F7FA"/>
                </a:solidFill>
                <a:latin typeface="Inter"/>
                <a:cs typeface="Inter"/>
              </a:rPr>
              <a:t>Decision Infrastructure</a:t>
            </a:r>
          </a:p>
        </p:txBody>
      </p:sp>
      <p:sp>
        <p:nvSpPr>
          <p:cNvPr id="33" name="$fin123"/>
          <p:cNvSpPr/>
          <p:nvPr/>
        </p:nvSpPr>
        <p:spPr>
          <a:xfrm>
            <a:off x="8476488" y="2834640"/>
            <a:ext cx="1975104" cy="347472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4" name="$fin123 text"/>
          <p:cNvSpPr txBox="1"/>
          <p:nvPr/>
        </p:nvSpPr>
        <p:spPr>
          <a:xfrm>
            <a:off x="8549640" y="293522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$fin123</a:t>
            </a:r>
          </a:p>
        </p:txBody>
      </p:sp>
      <p:sp>
        <p:nvSpPr>
          <p:cNvPr id="35" name="Plus1"/>
          <p:cNvSpPr txBox="1"/>
          <p:nvPr/>
        </p:nvSpPr>
        <p:spPr>
          <a:xfrm>
            <a:off x="3520440" y="31821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dirty="0">
                <a:b/>
                <a:solidFill>
                  <a:srgbClr val="75808C"/>
                </a:solidFill>
                <a:latin typeface="Inter"/>
                <a:cs typeface="Inter"/>
              </a:rPr>
              <a:t>+</a:t>
            </a:r>
          </a:p>
        </p:txBody>
      </p:sp>
      <p:sp>
        <p:nvSpPr>
          <p:cNvPr id="36" name="Plus2"/>
          <p:cNvSpPr txBox="1"/>
          <p:nvPr/>
        </p:nvSpPr>
        <p:spPr>
          <a:xfrm>
            <a:off x="7452360" y="31821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500" dirty="0">
                <a:b/>
                <a:solidFill>
                  <a:srgbClr val="75808C"/>
                </a:solidFill>
                <a:latin typeface="Inter"/>
                <a:cs typeface="Inter"/>
              </a:rPr>
              <a:t>+</a:t>
            </a:r>
          </a:p>
        </p:txBody>
      </p:sp>
      <p:sp>
        <p:nvSpPr>
          <p:cNvPr id="37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8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The Industry Built Infrastructure Around Data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Bloomberg"/>
          <p:cNvSpPr/>
          <p:nvPr/>
        </p:nvSpPr>
        <p:spPr>
          <a:xfrm>
            <a:off x="731520" y="2907792"/>
            <a:ext cx="1627632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Bloomberg text"/>
          <p:cNvSpPr txBox="1"/>
          <p:nvPr/>
        </p:nvSpPr>
        <p:spPr>
          <a:xfrm>
            <a:off x="804672" y="3008376"/>
            <a:ext cx="1481328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Bloomberg</a:t>
            </a:r>
          </a:p>
        </p:txBody>
      </p:sp>
      <p:sp>
        <p:nvSpPr>
          <p:cNvPr id="14" name="FactSet"/>
          <p:cNvSpPr/>
          <p:nvPr/>
        </p:nvSpPr>
        <p:spPr>
          <a:xfrm>
            <a:off x="2907792" y="2907792"/>
            <a:ext cx="1627632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FactSet text"/>
          <p:cNvSpPr txBox="1"/>
          <p:nvPr/>
        </p:nvSpPr>
        <p:spPr>
          <a:xfrm>
            <a:off x="2980944" y="3008376"/>
            <a:ext cx="1481328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FactSet</a:t>
            </a:r>
          </a:p>
        </p:txBody>
      </p:sp>
      <p:sp>
        <p:nvSpPr>
          <p:cNvPr id="16" name="Visible Alpha"/>
          <p:cNvSpPr/>
          <p:nvPr/>
        </p:nvSpPr>
        <p:spPr>
          <a:xfrm>
            <a:off x="5084064" y="2907792"/>
            <a:ext cx="1627632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Visible Alpha text"/>
          <p:cNvSpPr txBox="1"/>
          <p:nvPr/>
        </p:nvSpPr>
        <p:spPr>
          <a:xfrm>
            <a:off x="5157216" y="3008376"/>
            <a:ext cx="1481328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Visible Alpha</a:t>
            </a:r>
          </a:p>
        </p:txBody>
      </p:sp>
      <p:sp>
        <p:nvSpPr>
          <p:cNvPr id="18" name="Snowflake"/>
          <p:cNvSpPr/>
          <p:nvPr/>
        </p:nvSpPr>
        <p:spPr>
          <a:xfrm>
            <a:off x="7260336" y="2907792"/>
            <a:ext cx="1627632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Snowflake text"/>
          <p:cNvSpPr txBox="1"/>
          <p:nvPr/>
        </p:nvSpPr>
        <p:spPr>
          <a:xfrm>
            <a:off x="7333488" y="3008376"/>
            <a:ext cx="1481328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Snowflake</a:t>
            </a:r>
          </a:p>
        </p:txBody>
      </p:sp>
      <p:sp>
        <p:nvSpPr>
          <p:cNvPr id="20" name="Databases"/>
          <p:cNvSpPr/>
          <p:nvPr/>
        </p:nvSpPr>
        <p:spPr>
          <a:xfrm>
            <a:off x="9436608" y="2907792"/>
            <a:ext cx="1627632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Databases text"/>
          <p:cNvSpPr txBox="1"/>
          <p:nvPr/>
        </p:nvSpPr>
        <p:spPr>
          <a:xfrm>
            <a:off x="9509760" y="3008376"/>
            <a:ext cx="1481328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Databases</a:t>
            </a:r>
          </a:p>
        </p:txBody>
      </p:sp>
      <p:sp>
        <p:nvSpPr>
          <p:cNvPr id="22" name="Arrow 22"/>
          <p:cNvSpPr/>
          <p:nvPr/>
        </p:nvSpPr>
        <p:spPr>
          <a:xfrm>
            <a:off x="1545336" y="2057400"/>
            <a:ext cx="0" cy="85039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3" name="Arrow 23"/>
          <p:cNvSpPr/>
          <p:nvPr/>
        </p:nvSpPr>
        <p:spPr>
          <a:xfrm>
            <a:off x="3721608" y="2057400"/>
            <a:ext cx="0" cy="85039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4" name="Arrow 24"/>
          <p:cNvSpPr/>
          <p:nvPr/>
        </p:nvSpPr>
        <p:spPr>
          <a:xfrm>
            <a:off x="5897880" y="2057400"/>
            <a:ext cx="0" cy="85039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5" name="Arrow 25"/>
          <p:cNvSpPr/>
          <p:nvPr/>
        </p:nvSpPr>
        <p:spPr>
          <a:xfrm>
            <a:off x="8074152" y="2057400"/>
            <a:ext cx="0" cy="85039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6" name="Arrow 26"/>
          <p:cNvSpPr/>
          <p:nvPr/>
        </p:nvSpPr>
        <p:spPr>
          <a:xfrm>
            <a:off x="10250424" y="2057400"/>
            <a:ext cx="0" cy="85039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7" name="Market + Fundamental Data Layer"/>
          <p:cNvSpPr/>
          <p:nvPr/>
        </p:nvSpPr>
        <p:spPr>
          <a:xfrm>
            <a:off x="3794760" y="1591056"/>
            <a:ext cx="4617720" cy="566928"/>
          </a:xfrm>
          <a:prstGeom prst="roundRect">
            <a:avLst/>
          </a:prstGeom>
          <a:solidFill>
            <a:srgbClr val="102033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8" name="Market + Fundamental Data Layer text"/>
          <p:cNvSpPr txBox="1"/>
          <p:nvPr/>
        </p:nvSpPr>
        <p:spPr>
          <a:xfrm>
            <a:off x="3867912" y="1691640"/>
            <a:ext cx="44714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Market + Fundamental Data Layer</a:t>
            </a:r>
          </a:p>
        </p:txBody>
      </p:sp>
      <p:sp>
        <p:nvSpPr>
          <p:cNvPr id="29" name="Minimal"/>
          <p:cNvSpPr txBox="1"/>
          <p:nvPr/>
        </p:nvSpPr>
        <p:spPr>
          <a:xfrm>
            <a:off x="4160520" y="46634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50" dirty="0">
                <a:b/>
                <a:solidFill>
                  <a:srgbClr val="AAB2BF"/>
                </a:solidFill>
                <a:latin typeface="Inter"/>
                <a:cs typeface="Inter"/>
              </a:rPr>
              <a:t>Centralized. Structured. Queried. Governed.</a:t>
            </a:r>
          </a:p>
        </p:txBody>
      </p:sp>
      <p:sp>
        <p:nvSpPr>
          <p:cNvPr id="30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1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The Industry Built Infrastructure Around Execution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Order Lifecycle"/>
          <p:cNvSpPr/>
          <p:nvPr/>
        </p:nvSpPr>
        <p:spPr>
          <a:xfrm>
            <a:off x="4343400" y="1600200"/>
            <a:ext cx="3337560" cy="566928"/>
          </a:xfrm>
          <a:prstGeom prst="roundRect">
            <a:avLst/>
          </a:prstGeom>
          <a:solidFill>
            <a:srgbClr val="102033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Order Lifecycle text"/>
          <p:cNvSpPr txBox="1"/>
          <p:nvPr/>
        </p:nvSpPr>
        <p:spPr>
          <a:xfrm>
            <a:off x="4416552" y="1700784"/>
            <a:ext cx="31912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Order Lifecycle</a:t>
            </a:r>
          </a:p>
        </p:txBody>
      </p:sp>
      <p:sp>
        <p:nvSpPr>
          <p:cNvPr id="14" name="OMS"/>
          <p:cNvSpPr/>
          <p:nvPr/>
        </p:nvSpPr>
        <p:spPr>
          <a:xfrm>
            <a:off x="1143000" y="3154680"/>
            <a:ext cx="1554480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OMS text"/>
          <p:cNvSpPr txBox="1"/>
          <p:nvPr/>
        </p:nvSpPr>
        <p:spPr>
          <a:xfrm>
            <a:off x="1216152" y="3255264"/>
            <a:ext cx="14081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OMS</a:t>
            </a:r>
          </a:p>
        </p:txBody>
      </p:sp>
      <p:sp>
        <p:nvSpPr>
          <p:cNvPr id="16" name="Arrow 16"/>
          <p:cNvSpPr/>
          <p:nvPr/>
        </p:nvSpPr>
        <p:spPr>
          <a:xfrm flipH="1">
            <a:off x="1920240" y="2167128"/>
            <a:ext cx="4096512" cy="98755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7" name="EMS"/>
          <p:cNvSpPr/>
          <p:nvPr/>
        </p:nvSpPr>
        <p:spPr>
          <a:xfrm>
            <a:off x="3886200" y="3154680"/>
            <a:ext cx="1554480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8" name="EMS text"/>
          <p:cNvSpPr txBox="1"/>
          <p:nvPr/>
        </p:nvSpPr>
        <p:spPr>
          <a:xfrm>
            <a:off x="3959352" y="3255264"/>
            <a:ext cx="14081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EMS</a:t>
            </a:r>
          </a:p>
        </p:txBody>
      </p:sp>
      <p:sp>
        <p:nvSpPr>
          <p:cNvPr id="19" name="Arrow 19"/>
          <p:cNvSpPr/>
          <p:nvPr/>
        </p:nvSpPr>
        <p:spPr>
          <a:xfrm flipH="1">
            <a:off x="4663440" y="2167128"/>
            <a:ext cx="1353312" cy="98755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0" name="Risk"/>
          <p:cNvSpPr/>
          <p:nvPr/>
        </p:nvSpPr>
        <p:spPr>
          <a:xfrm>
            <a:off x="6629400" y="3154680"/>
            <a:ext cx="1554480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Risk text"/>
          <p:cNvSpPr txBox="1"/>
          <p:nvPr/>
        </p:nvSpPr>
        <p:spPr>
          <a:xfrm>
            <a:off x="6702552" y="3255264"/>
            <a:ext cx="14081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22" name="Arrow 22"/>
          <p:cNvSpPr/>
          <p:nvPr/>
        </p:nvSpPr>
        <p:spPr>
          <a:xfrm>
            <a:off x="6016752" y="2167128"/>
            <a:ext cx="1389888" cy="98755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3" name="Compliance"/>
          <p:cNvSpPr/>
          <p:nvPr/>
        </p:nvSpPr>
        <p:spPr>
          <a:xfrm>
            <a:off x="9372600" y="3154680"/>
            <a:ext cx="1554480" cy="68580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4" name="Compliance text"/>
          <p:cNvSpPr txBox="1"/>
          <p:nvPr/>
        </p:nvSpPr>
        <p:spPr>
          <a:xfrm>
            <a:off x="9445752" y="3255264"/>
            <a:ext cx="1408176" cy="53949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Compliance</a:t>
            </a:r>
          </a:p>
        </p:txBody>
      </p:sp>
      <p:sp>
        <p:nvSpPr>
          <p:cNvPr id="25" name="Arrow 25"/>
          <p:cNvSpPr/>
          <p:nvPr/>
        </p:nvSpPr>
        <p:spPr>
          <a:xfrm>
            <a:off x="6016752" y="2167128"/>
            <a:ext cx="4133088" cy="987552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6" name="Minimal"/>
          <p:cNvSpPr txBox="1"/>
          <p:nvPr/>
        </p:nvSpPr>
        <p:spPr>
          <a:xfrm>
            <a:off x="3794760" y="480060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50" dirty="0">
                <a:b/>
                <a:solidFill>
                  <a:srgbClr val="AAB2BF"/>
                </a:solidFill>
                <a:latin typeface="Inter"/>
                <a:cs typeface="Inter"/>
              </a:rPr>
              <a:t>Routed. Monitored. Controlled. Recorded.</a:t>
            </a:r>
          </a:p>
        </p:txBody>
      </p:sp>
      <p:sp>
        <p:nvSpPr>
          <p:cNvPr id="27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8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Research Still Lives In Files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Excel"/>
          <p:cNvSpPr/>
          <p:nvPr/>
        </p:nvSpPr>
        <p:spPr>
          <a:xfrm>
            <a:off x="868680" y="1920240"/>
            <a:ext cx="141732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Excel text"/>
          <p:cNvSpPr txBox="1"/>
          <p:nvPr/>
        </p:nvSpPr>
        <p:spPr>
          <a:xfrm>
            <a:off x="941832" y="20208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Excel</a:t>
            </a:r>
          </a:p>
        </p:txBody>
      </p:sp>
      <p:sp>
        <p:nvSpPr>
          <p:cNvPr id="14" name="Word"/>
          <p:cNvSpPr/>
          <p:nvPr/>
        </p:nvSpPr>
        <p:spPr>
          <a:xfrm>
            <a:off x="3017520" y="1920240"/>
            <a:ext cx="141732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Word text"/>
          <p:cNvSpPr txBox="1"/>
          <p:nvPr/>
        </p:nvSpPr>
        <p:spPr>
          <a:xfrm>
            <a:off x="3090672" y="20208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Word</a:t>
            </a:r>
          </a:p>
        </p:txBody>
      </p:sp>
      <p:sp>
        <p:nvSpPr>
          <p:cNvPr id="16" name="PDF"/>
          <p:cNvSpPr/>
          <p:nvPr/>
        </p:nvSpPr>
        <p:spPr>
          <a:xfrm>
            <a:off x="5166360" y="1920240"/>
            <a:ext cx="141732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PDF text"/>
          <p:cNvSpPr txBox="1"/>
          <p:nvPr/>
        </p:nvSpPr>
        <p:spPr>
          <a:xfrm>
            <a:off x="5239512" y="20208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PDF</a:t>
            </a:r>
          </a:p>
        </p:txBody>
      </p:sp>
      <p:sp>
        <p:nvSpPr>
          <p:cNvPr id="18" name="Email"/>
          <p:cNvSpPr/>
          <p:nvPr/>
        </p:nvSpPr>
        <p:spPr>
          <a:xfrm>
            <a:off x="7315200" y="1920240"/>
            <a:ext cx="141732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Email text"/>
          <p:cNvSpPr txBox="1"/>
          <p:nvPr/>
        </p:nvSpPr>
        <p:spPr>
          <a:xfrm>
            <a:off x="7388352" y="20208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Email</a:t>
            </a:r>
          </a:p>
        </p:txBody>
      </p:sp>
      <p:sp>
        <p:nvSpPr>
          <p:cNvPr id="20" name="Chat"/>
          <p:cNvSpPr/>
          <p:nvPr/>
        </p:nvSpPr>
        <p:spPr>
          <a:xfrm>
            <a:off x="9464040" y="1920240"/>
            <a:ext cx="141732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Chat text"/>
          <p:cNvSpPr txBox="1"/>
          <p:nvPr/>
        </p:nvSpPr>
        <p:spPr>
          <a:xfrm>
            <a:off x="9537192" y="2020824"/>
            <a:ext cx="127101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Chat</a:t>
            </a:r>
          </a:p>
        </p:txBody>
      </p:sp>
      <p:sp>
        <p:nvSpPr>
          <p:cNvPr id="22" name="Callout"/>
          <p:cNvSpPr/>
          <p:nvPr/>
        </p:nvSpPr>
        <p:spPr>
          <a:xfrm>
            <a:off x="3611880" y="3401568"/>
            <a:ext cx="4983480" cy="1417320"/>
          </a:xfrm>
          <a:prstGeom prst="rect">
            <a:avLst/>
          </a:prstGeom>
          <a:solidFill>
            <a:srgbClr val="17110D"/>
          </a:solidFill>
          <a:ln w="12000">
            <a:solidFill>
              <a:srgbClr val="D6A447"/>
            </a:solidFill>
          </a:ln>
        </p:spPr>
        <p:txBody>
          <a:bodyPr/>
          <a:lstStyle/>
          <a:p/>
        </p:txBody>
      </p:sp>
      <p:sp>
        <p:nvSpPr>
          <p:cNvPr id="23" name="Forecast"/>
          <p:cNvSpPr txBox="1"/>
          <p:nvPr/>
        </p:nvSpPr>
        <p:spPr>
          <a:xfrm>
            <a:off x="3886200" y="365760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650" dirty="0">
                <a:b/>
                <a:solidFill>
                  <a:srgbClr val="F5F7FA"/>
                </a:solidFill>
                <a:latin typeface="Inter"/>
                <a:cs typeface="Inter"/>
              </a:rPr>
              <a:t>Forecast Changed</a:t>
            </a:r>
          </a:p>
        </p:txBody>
      </p:sp>
      <p:sp>
        <p:nvSpPr>
          <p:cNvPr id="24" name="Why"/>
          <p:cNvSpPr txBox="1"/>
          <p:nvPr/>
        </p:nvSpPr>
        <p:spPr>
          <a:xfrm>
            <a:off x="3886200" y="422452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320" dirty="0">
                <a:b/>
                <a:solidFill>
                  <a:srgbClr val="D6A447"/>
                </a:solidFill>
                <a:latin typeface="Inter"/>
                <a:cs typeface="Inter"/>
              </a:rPr>
              <a:t>Why?</a:t>
            </a:r>
          </a:p>
        </p:txBody>
      </p:sp>
      <p:sp>
        <p:nvSpPr>
          <p:cNvPr id="25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6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dirty="0">
                <a:b/>
                <a:solidFill>
                  <a:srgbClr val="58A6FF"/>
                </a:solidFill>
                <a:latin typeface="Aptos Mono"/>
                <a:cs typeface="Aptos Mono"/>
              </a:rPr>
              <a:t>CORE THESIS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Investment Decisions Are Workflows</a:t>
            </a:r>
          </a:p>
        </p:txBody>
      </p:sp>
      <p:sp>
        <p:nvSpPr>
          <p:cNvPr id="12" name="Arrow 1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Observation"/>
          <p:cNvSpPr/>
          <p:nvPr/>
        </p:nvSpPr>
        <p:spPr>
          <a:xfrm>
            <a:off x="502920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Observation text"/>
          <p:cNvSpPr txBox="1"/>
          <p:nvPr/>
        </p:nvSpPr>
        <p:spPr>
          <a:xfrm>
            <a:off x="576072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Observation</a:t>
            </a:r>
          </a:p>
        </p:txBody>
      </p:sp>
      <p:sp>
        <p:nvSpPr>
          <p:cNvPr id="15" name="Arrow 15"/>
          <p:cNvSpPr/>
          <p:nvPr/>
        </p:nvSpPr>
        <p:spPr>
          <a:xfrm>
            <a:off x="1737360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6" name="Research"/>
          <p:cNvSpPr/>
          <p:nvPr/>
        </p:nvSpPr>
        <p:spPr>
          <a:xfrm>
            <a:off x="2130552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Research text"/>
          <p:cNvSpPr txBox="1"/>
          <p:nvPr/>
        </p:nvSpPr>
        <p:spPr>
          <a:xfrm>
            <a:off x="2203704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Research</a:t>
            </a:r>
          </a:p>
        </p:txBody>
      </p:sp>
      <p:sp>
        <p:nvSpPr>
          <p:cNvPr id="18" name="Arrow 18"/>
          <p:cNvSpPr/>
          <p:nvPr/>
        </p:nvSpPr>
        <p:spPr>
          <a:xfrm>
            <a:off x="3364992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9" name="Discussion"/>
          <p:cNvSpPr/>
          <p:nvPr/>
        </p:nvSpPr>
        <p:spPr>
          <a:xfrm>
            <a:off x="3758184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Discussion text"/>
          <p:cNvSpPr txBox="1"/>
          <p:nvPr/>
        </p:nvSpPr>
        <p:spPr>
          <a:xfrm>
            <a:off x="3831336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Discussion</a:t>
            </a:r>
          </a:p>
        </p:txBody>
      </p:sp>
      <p:sp>
        <p:nvSpPr>
          <p:cNvPr id="21" name="Arrow 21"/>
          <p:cNvSpPr/>
          <p:nvPr/>
        </p:nvSpPr>
        <p:spPr>
          <a:xfrm>
            <a:off x="4992624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2" name="Forecast"/>
          <p:cNvSpPr/>
          <p:nvPr/>
        </p:nvSpPr>
        <p:spPr>
          <a:xfrm>
            <a:off x="5385816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Forecast text"/>
          <p:cNvSpPr txBox="1"/>
          <p:nvPr/>
        </p:nvSpPr>
        <p:spPr>
          <a:xfrm>
            <a:off x="5458968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Forecast</a:t>
            </a:r>
          </a:p>
        </p:txBody>
      </p:sp>
      <p:sp>
        <p:nvSpPr>
          <p:cNvPr id="24" name="Arrow 24"/>
          <p:cNvSpPr/>
          <p:nvPr/>
        </p:nvSpPr>
        <p:spPr>
          <a:xfrm>
            <a:off x="6620256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5" name="Decision"/>
          <p:cNvSpPr/>
          <p:nvPr/>
        </p:nvSpPr>
        <p:spPr>
          <a:xfrm>
            <a:off x="7013448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Decision text"/>
          <p:cNvSpPr txBox="1"/>
          <p:nvPr/>
        </p:nvSpPr>
        <p:spPr>
          <a:xfrm>
            <a:off x="7086600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Decision</a:t>
            </a:r>
          </a:p>
        </p:txBody>
      </p:sp>
      <p:sp>
        <p:nvSpPr>
          <p:cNvPr id="27" name="Arrow 27"/>
          <p:cNvSpPr/>
          <p:nvPr/>
        </p:nvSpPr>
        <p:spPr>
          <a:xfrm>
            <a:off x="8247888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8" name="Position"/>
          <p:cNvSpPr/>
          <p:nvPr/>
        </p:nvSpPr>
        <p:spPr>
          <a:xfrm>
            <a:off x="8641080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9" name="Position text"/>
          <p:cNvSpPr txBox="1"/>
          <p:nvPr/>
        </p:nvSpPr>
        <p:spPr>
          <a:xfrm>
            <a:off x="8714232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Position</a:t>
            </a:r>
          </a:p>
        </p:txBody>
      </p:sp>
      <p:sp>
        <p:nvSpPr>
          <p:cNvPr id="30" name="Arrow 30"/>
          <p:cNvSpPr/>
          <p:nvPr/>
        </p:nvSpPr>
        <p:spPr>
          <a:xfrm>
            <a:off x="9875520" y="3227832"/>
            <a:ext cx="393192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31" name="Outcome"/>
          <p:cNvSpPr/>
          <p:nvPr/>
        </p:nvSpPr>
        <p:spPr>
          <a:xfrm>
            <a:off x="10268712" y="2944368"/>
            <a:ext cx="1234440" cy="566928"/>
          </a:xfrm>
          <a:prstGeom prst="roundRect">
            <a:avLst/>
          </a:prstGeom>
          <a:solidFill>
            <a:srgbClr val="0F1821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2" name="Outcome text"/>
          <p:cNvSpPr txBox="1"/>
          <p:nvPr/>
        </p:nvSpPr>
        <p:spPr>
          <a:xfrm>
            <a:off x="10341864" y="304495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Outcome</a:t>
            </a:r>
          </a:p>
        </p:txBody>
      </p:sp>
      <p:sp>
        <p:nvSpPr>
          <p:cNvPr id="33" name="Thesis"/>
          <p:cNvSpPr txBox="1"/>
          <p:nvPr/>
        </p:nvSpPr>
        <p:spPr>
          <a:xfrm>
            <a:off x="2240280" y="45720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250" dirty="0">
                <a:b/>
                <a:solidFill>
                  <a:srgbClr val="AAB2BF"/>
                </a:solidFill>
                <a:latin typeface="Inter"/>
                <a:cs typeface="Inter"/>
              </a:rPr>
              <a:t>The decision process is now a production system.</a:t>
            </a:r>
          </a:p>
        </p:txBody>
      </p:sp>
      <p:sp>
        <p:nvSpPr>
          <p:cNvPr id="34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5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One Workflow. Five Stakeholders.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Decision Model"/>
          <p:cNvSpPr/>
          <p:nvPr/>
        </p:nvSpPr>
        <p:spPr>
          <a:xfrm>
            <a:off x="4709160" y="2944368"/>
            <a:ext cx="2788920" cy="713232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Decision Model text"/>
          <p:cNvSpPr txBox="1"/>
          <p:nvPr/>
        </p:nvSpPr>
        <p:spPr>
          <a:xfrm>
            <a:off x="4782312" y="3044952"/>
            <a:ext cx="2642616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Decision Model</a:t>
            </a:r>
          </a:p>
        </p:txBody>
      </p:sp>
      <p:sp>
        <p:nvSpPr>
          <p:cNvPr id="14" name="Arrow 14"/>
          <p:cNvSpPr/>
          <p:nvPr/>
        </p:nvSpPr>
        <p:spPr>
          <a:xfrm flipH="1" flipV="1">
            <a:off x="1874520" y="1929384"/>
            <a:ext cx="4233672" cy="1371600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Analyst"/>
          <p:cNvSpPr/>
          <p:nvPr/>
        </p:nvSpPr>
        <p:spPr>
          <a:xfrm>
            <a:off x="1097280" y="1645920"/>
            <a:ext cx="173736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6" name="Analyst text"/>
          <p:cNvSpPr txBox="1"/>
          <p:nvPr/>
        </p:nvSpPr>
        <p:spPr>
          <a:xfrm>
            <a:off x="1170432" y="1746504"/>
            <a:ext cx="15910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Analyst</a:t>
            </a:r>
          </a:p>
        </p:txBody>
      </p:sp>
      <p:sp>
        <p:nvSpPr>
          <p:cNvPr id="17" name="Arrow 17"/>
          <p:cNvSpPr/>
          <p:nvPr/>
        </p:nvSpPr>
        <p:spPr>
          <a:xfrm flipV="1">
            <a:off x="6108192" y="1929384"/>
            <a:ext cx="3767328" cy="1371600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8" name="PM"/>
          <p:cNvSpPr/>
          <p:nvPr/>
        </p:nvSpPr>
        <p:spPr>
          <a:xfrm>
            <a:off x="9098280" y="1645920"/>
            <a:ext cx="173736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PM text"/>
          <p:cNvSpPr txBox="1"/>
          <p:nvPr/>
        </p:nvSpPr>
        <p:spPr>
          <a:xfrm>
            <a:off x="9171432" y="1746504"/>
            <a:ext cx="15910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PM</a:t>
            </a:r>
          </a:p>
        </p:txBody>
      </p:sp>
      <p:sp>
        <p:nvSpPr>
          <p:cNvPr id="20" name="Arrow 20"/>
          <p:cNvSpPr/>
          <p:nvPr/>
        </p:nvSpPr>
        <p:spPr>
          <a:xfrm flipH="1">
            <a:off x="1645920" y="3300984"/>
            <a:ext cx="4462272" cy="1600200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Head of Research"/>
          <p:cNvSpPr/>
          <p:nvPr/>
        </p:nvSpPr>
        <p:spPr>
          <a:xfrm>
            <a:off x="868680" y="4617720"/>
            <a:ext cx="173736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2" name="Head of Research text"/>
          <p:cNvSpPr txBox="1"/>
          <p:nvPr/>
        </p:nvSpPr>
        <p:spPr>
          <a:xfrm>
            <a:off x="941832" y="4718304"/>
            <a:ext cx="15910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Head of Research</a:t>
            </a:r>
          </a:p>
        </p:txBody>
      </p:sp>
      <p:sp>
        <p:nvSpPr>
          <p:cNvPr id="23" name="Arrow 23"/>
          <p:cNvSpPr/>
          <p:nvPr/>
        </p:nvSpPr>
        <p:spPr>
          <a:xfrm>
            <a:off x="6108192" y="3300984"/>
            <a:ext cx="3493008" cy="1600200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4" name="Trading Desk"/>
          <p:cNvSpPr/>
          <p:nvPr/>
        </p:nvSpPr>
        <p:spPr>
          <a:xfrm>
            <a:off x="8823960" y="4617720"/>
            <a:ext cx="173736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5" name="Trading Desk text"/>
          <p:cNvSpPr txBox="1"/>
          <p:nvPr/>
        </p:nvSpPr>
        <p:spPr>
          <a:xfrm>
            <a:off x="8897112" y="4718304"/>
            <a:ext cx="15910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Trading Desk</a:t>
            </a:r>
          </a:p>
        </p:txBody>
      </p:sp>
      <p:sp>
        <p:nvSpPr>
          <p:cNvPr id="26" name="Arrow 26"/>
          <p:cNvSpPr/>
          <p:nvPr/>
        </p:nvSpPr>
        <p:spPr>
          <a:xfrm flipH="1">
            <a:off x="5532120" y="3300984"/>
            <a:ext cx="576072" cy="2240280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7" name="Compliance"/>
          <p:cNvSpPr/>
          <p:nvPr/>
        </p:nvSpPr>
        <p:spPr>
          <a:xfrm>
            <a:off x="4754880" y="5257800"/>
            <a:ext cx="173736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8" name="Compliance text"/>
          <p:cNvSpPr txBox="1"/>
          <p:nvPr/>
        </p:nvSpPr>
        <p:spPr>
          <a:xfrm>
            <a:off x="4828032" y="5358384"/>
            <a:ext cx="159105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Compliance</a:t>
            </a:r>
          </a:p>
        </p:txBody>
      </p:sp>
      <p:sp>
        <p:nvSpPr>
          <p:cNvPr id="29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0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Analyst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Question"/>
          <p:cNvSpPr txBox="1"/>
          <p:nvPr/>
        </p:nvSpPr>
        <p:spPr>
          <a:xfrm>
            <a:off x="566928" y="129844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dirty="0">
                <a:b/>
                <a:solidFill>
                  <a:srgbClr val="58A6FF"/>
                </a:solidFill>
                <a:latin typeface="Inter"/>
                <a:cs typeface="Inter"/>
              </a:rPr>
              <a:t>How do I build it?</a:t>
            </a:r>
          </a:p>
        </p:txBody>
      </p:sp>
      <p:pic>
        <p:nvPicPr>
          <p:cNvPr id="13" name="fin123 dark system 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5897880" y="1921037"/>
            <a:ext cx="5349240" cy="2833047"/>
          </a:xfrm>
          <a:prstGeom prst="rect">
            <a:avLst/>
          </a:prstGeom>
          <a:ln w="12000">
            <a:solidFill>
              <a:srgbClr val="283847"/>
            </a:solidFill>
          </a:ln>
        </p:spPr>
      </p:pic>
      <p:sp>
        <p:nvSpPr>
          <p:cNvPr id="14" name="Decision Model"/>
          <p:cNvSpPr/>
          <p:nvPr/>
        </p:nvSpPr>
        <p:spPr>
          <a:xfrm>
            <a:off x="1234440" y="2880360"/>
            <a:ext cx="2468880" cy="658368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Decision Model text"/>
          <p:cNvSpPr txBox="1"/>
          <p:nvPr/>
        </p:nvSpPr>
        <p:spPr>
          <a:xfrm>
            <a:off x="1307592" y="2980944"/>
            <a:ext cx="23225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Decision Model</a:t>
            </a:r>
          </a:p>
        </p:txBody>
      </p:sp>
      <p:sp>
        <p:nvSpPr>
          <p:cNvPr id="16" name="Arrow 16"/>
          <p:cNvSpPr/>
          <p:nvPr/>
        </p:nvSpPr>
        <p:spPr>
          <a:xfrm flipH="1" flipV="1">
            <a:off x="1417320" y="2103120"/>
            <a:ext cx="1051560" cy="1106424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Data"/>
          <p:cNvSpPr/>
          <p:nvPr/>
        </p:nvSpPr>
        <p:spPr>
          <a:xfrm>
            <a:off x="731520" y="1828800"/>
            <a:ext cx="137160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8" name="Data text"/>
          <p:cNvSpPr txBox="1"/>
          <p:nvPr/>
        </p:nvSpPr>
        <p:spPr>
          <a:xfrm>
            <a:off x="804672" y="192938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Data</a:t>
            </a:r>
          </a:p>
        </p:txBody>
      </p:sp>
      <p:sp>
        <p:nvSpPr>
          <p:cNvPr id="19" name="Arrow 19"/>
          <p:cNvSpPr/>
          <p:nvPr/>
        </p:nvSpPr>
        <p:spPr>
          <a:xfrm flipV="1">
            <a:off x="2468880" y="2103120"/>
            <a:ext cx="1965960" cy="1106424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AI"/>
          <p:cNvSpPr/>
          <p:nvPr/>
        </p:nvSpPr>
        <p:spPr>
          <a:xfrm>
            <a:off x="3749040" y="1828800"/>
            <a:ext cx="137160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AI text"/>
          <p:cNvSpPr txBox="1"/>
          <p:nvPr/>
        </p:nvSpPr>
        <p:spPr>
          <a:xfrm>
            <a:off x="3822192" y="192938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AI</a:t>
            </a:r>
          </a:p>
        </p:txBody>
      </p:sp>
      <p:sp>
        <p:nvSpPr>
          <p:cNvPr id="22" name="Arrow 22"/>
          <p:cNvSpPr/>
          <p:nvPr/>
        </p:nvSpPr>
        <p:spPr>
          <a:xfrm flipH="1">
            <a:off x="1417320" y="3209544"/>
            <a:ext cx="1051560" cy="1316736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Versions"/>
          <p:cNvSpPr/>
          <p:nvPr/>
        </p:nvSpPr>
        <p:spPr>
          <a:xfrm>
            <a:off x="731520" y="4251960"/>
            <a:ext cx="137160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4" name="Versions text"/>
          <p:cNvSpPr txBox="1"/>
          <p:nvPr/>
        </p:nvSpPr>
        <p:spPr>
          <a:xfrm>
            <a:off x="804672" y="435254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Versions</a:t>
            </a:r>
          </a:p>
        </p:txBody>
      </p:sp>
      <p:sp>
        <p:nvSpPr>
          <p:cNvPr id="25" name="Arrow 25"/>
          <p:cNvSpPr/>
          <p:nvPr/>
        </p:nvSpPr>
        <p:spPr>
          <a:xfrm>
            <a:off x="2468880" y="3209544"/>
            <a:ext cx="1965960" cy="1316736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Scenarios"/>
          <p:cNvSpPr/>
          <p:nvPr/>
        </p:nvSpPr>
        <p:spPr>
          <a:xfrm>
            <a:off x="3749040" y="4251960"/>
            <a:ext cx="137160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7" name="Scenarios text"/>
          <p:cNvSpPr txBox="1"/>
          <p:nvPr/>
        </p:nvSpPr>
        <p:spPr>
          <a:xfrm>
            <a:off x="3822192" y="435254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Scenarios</a:t>
            </a:r>
          </a:p>
        </p:txBody>
      </p:sp>
      <p:sp>
        <p:nvSpPr>
          <p:cNvPr id="28" name="Arrow 28"/>
          <p:cNvSpPr/>
          <p:nvPr/>
        </p:nvSpPr>
        <p:spPr>
          <a:xfrm>
            <a:off x="2468880" y="3209544"/>
            <a:ext cx="457200" cy="1956816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9" name="Runs"/>
          <p:cNvSpPr/>
          <p:nvPr/>
        </p:nvSpPr>
        <p:spPr>
          <a:xfrm>
            <a:off x="2240280" y="4892040"/>
            <a:ext cx="137160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0" name="Runs text"/>
          <p:cNvSpPr txBox="1"/>
          <p:nvPr/>
        </p:nvSpPr>
        <p:spPr>
          <a:xfrm>
            <a:off x="2313432" y="4992624"/>
            <a:ext cx="12252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Runs</a:t>
            </a:r>
          </a:p>
        </p:txBody>
      </p:sp>
      <p:sp>
        <p:nvSpPr>
          <p:cNvPr id="31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2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Portfolio Manager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Question"/>
          <p:cNvSpPr txBox="1"/>
          <p:nvPr/>
        </p:nvSpPr>
        <p:spPr>
          <a:xfrm>
            <a:off x="566928" y="129844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dirty="0">
                <a:b/>
                <a:solidFill>
                  <a:srgbClr val="58A6FF"/>
                </a:solidFill>
                <a:latin typeface="Inter"/>
                <a:cs typeface="Inter"/>
              </a:rPr>
              <a:t>Why did the estimate change?</a:t>
            </a:r>
          </a:p>
        </p:txBody>
      </p:sp>
      <p:sp>
        <p:nvSpPr>
          <p:cNvPr id="13" name="Estimate"/>
          <p:cNvSpPr/>
          <p:nvPr/>
        </p:nvSpPr>
        <p:spPr>
          <a:xfrm>
            <a:off x="4754880" y="2971800"/>
            <a:ext cx="2377440" cy="658368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Estimate text"/>
          <p:cNvSpPr txBox="1"/>
          <p:nvPr/>
        </p:nvSpPr>
        <p:spPr>
          <a:xfrm>
            <a:off x="4828032" y="3072384"/>
            <a:ext cx="223113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Estimate</a:t>
            </a:r>
          </a:p>
        </p:txBody>
      </p:sp>
      <p:sp>
        <p:nvSpPr>
          <p:cNvPr id="15" name="Arrow 15"/>
          <p:cNvSpPr/>
          <p:nvPr/>
        </p:nvSpPr>
        <p:spPr>
          <a:xfrm>
            <a:off x="1645920" y="2359152"/>
            <a:ext cx="4297680" cy="6126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6" name="Data"/>
          <p:cNvSpPr/>
          <p:nvPr/>
        </p:nvSpPr>
        <p:spPr>
          <a:xfrm>
            <a:off x="914400" y="1828800"/>
            <a:ext cx="150876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Data text"/>
          <p:cNvSpPr txBox="1"/>
          <p:nvPr/>
        </p:nvSpPr>
        <p:spPr>
          <a:xfrm>
            <a:off x="987552" y="192938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Data</a:t>
            </a:r>
          </a:p>
        </p:txBody>
      </p:sp>
      <p:sp>
        <p:nvSpPr>
          <p:cNvPr id="18" name="Arrow 18"/>
          <p:cNvSpPr/>
          <p:nvPr/>
        </p:nvSpPr>
        <p:spPr>
          <a:xfrm>
            <a:off x="3474720" y="2130552"/>
            <a:ext cx="2468880" cy="8412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9" name="Evidence"/>
          <p:cNvSpPr/>
          <p:nvPr/>
        </p:nvSpPr>
        <p:spPr>
          <a:xfrm>
            <a:off x="2743200" y="1600200"/>
            <a:ext cx="150876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Evidence text"/>
          <p:cNvSpPr txBox="1"/>
          <p:nvPr/>
        </p:nvSpPr>
        <p:spPr>
          <a:xfrm>
            <a:off x="2816352" y="170078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Evidence</a:t>
            </a:r>
          </a:p>
        </p:txBody>
      </p:sp>
      <p:sp>
        <p:nvSpPr>
          <p:cNvPr id="21" name="Arrow 21"/>
          <p:cNvSpPr/>
          <p:nvPr/>
        </p:nvSpPr>
        <p:spPr>
          <a:xfrm>
            <a:off x="5532120" y="1947672"/>
            <a:ext cx="411480" cy="102412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2" name="Memory"/>
          <p:cNvSpPr/>
          <p:nvPr/>
        </p:nvSpPr>
        <p:spPr>
          <a:xfrm>
            <a:off x="4800600" y="1417320"/>
            <a:ext cx="150876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Memory text"/>
          <p:cNvSpPr txBox="1"/>
          <p:nvPr/>
        </p:nvSpPr>
        <p:spPr>
          <a:xfrm>
            <a:off x="4873752" y="151790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Memory</a:t>
            </a:r>
          </a:p>
        </p:txBody>
      </p:sp>
      <p:sp>
        <p:nvSpPr>
          <p:cNvPr id="24" name="Arrow 24"/>
          <p:cNvSpPr/>
          <p:nvPr/>
        </p:nvSpPr>
        <p:spPr>
          <a:xfrm flipH="1">
            <a:off x="5943600" y="2130552"/>
            <a:ext cx="1783080" cy="8412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5" name="AI"/>
          <p:cNvSpPr/>
          <p:nvPr/>
        </p:nvSpPr>
        <p:spPr>
          <a:xfrm>
            <a:off x="6995160" y="1600200"/>
            <a:ext cx="150876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AI text"/>
          <p:cNvSpPr txBox="1"/>
          <p:nvPr/>
        </p:nvSpPr>
        <p:spPr>
          <a:xfrm>
            <a:off x="7068312" y="170078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AI</a:t>
            </a:r>
          </a:p>
        </p:txBody>
      </p:sp>
      <p:sp>
        <p:nvSpPr>
          <p:cNvPr id="27" name="Arrow 27"/>
          <p:cNvSpPr/>
          <p:nvPr/>
        </p:nvSpPr>
        <p:spPr>
          <a:xfrm flipH="1">
            <a:off x="5943600" y="2359152"/>
            <a:ext cx="3474720" cy="6126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8" name="Methodology"/>
          <p:cNvSpPr/>
          <p:nvPr/>
        </p:nvSpPr>
        <p:spPr>
          <a:xfrm>
            <a:off x="8686800" y="1828800"/>
            <a:ext cx="150876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9" name="Methodology text"/>
          <p:cNvSpPr txBox="1"/>
          <p:nvPr/>
        </p:nvSpPr>
        <p:spPr>
          <a:xfrm>
            <a:off x="8759952" y="1929384"/>
            <a:ext cx="136245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Methodology</a:t>
            </a:r>
          </a:p>
        </p:txBody>
      </p:sp>
      <p:pic>
        <p:nvPicPr>
          <p:cNvPr id="30" name="YAP provenance screenshot"/>
          <p:cNvPicPr/>
          <p:nvPr/>
        </p:nvPicPr>
        <p:blipFill>
          <a:blip r:embed="rId1"/>
          <a:stretch>
            <a:fillRect/>
          </a:stretch>
        </p:blipFill>
        <p:spPr>
          <a:xfrm>
            <a:off x="4780987" y="4251960"/>
            <a:ext cx="2553826" cy="1325880"/>
          </a:xfrm>
          <a:prstGeom prst="rect">
            <a:avLst/>
          </a:prstGeom>
          <a:ln w="12000">
            <a:solidFill>
              <a:srgbClr val="283847"/>
            </a:solidFill>
          </a:ln>
        </p:spPr>
      </p:pic>
      <p:sp>
        <p:nvSpPr>
          <p:cNvPr id="31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2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Head of Research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Question"/>
          <p:cNvSpPr txBox="1"/>
          <p:nvPr/>
        </p:nvSpPr>
        <p:spPr>
          <a:xfrm>
            <a:off x="566928" y="129844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dirty="0">
                <a:b/>
                <a:solidFill>
                  <a:srgbClr val="58A6FF"/>
                </a:solidFill>
                <a:latin typeface="Inter"/>
                <a:cs typeface="Inter"/>
              </a:rPr>
              <a:t>How do I scale methodology?</a:t>
            </a:r>
          </a:p>
        </p:txBody>
      </p:sp>
      <p:sp>
        <p:nvSpPr>
          <p:cNvPr id="13" name="House View"/>
          <p:cNvSpPr/>
          <p:nvPr/>
        </p:nvSpPr>
        <p:spPr>
          <a:xfrm>
            <a:off x="4251960" y="1737360"/>
            <a:ext cx="3657600" cy="603504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House View text"/>
          <p:cNvSpPr txBox="1"/>
          <p:nvPr/>
        </p:nvSpPr>
        <p:spPr>
          <a:xfrm>
            <a:off x="4325112" y="1837944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House View</a:t>
            </a:r>
          </a:p>
        </p:txBody>
      </p:sp>
      <p:sp>
        <p:nvSpPr>
          <p:cNvPr id="15" name="Arrow 15"/>
          <p:cNvSpPr/>
          <p:nvPr/>
        </p:nvSpPr>
        <p:spPr>
          <a:xfrm>
            <a:off x="6080760" y="2340864"/>
            <a:ext cx="0" cy="3840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6" name="Coverage Universe"/>
          <p:cNvSpPr/>
          <p:nvPr/>
        </p:nvSpPr>
        <p:spPr>
          <a:xfrm>
            <a:off x="4251960" y="2724912"/>
            <a:ext cx="3657600" cy="60350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Coverage Universe text"/>
          <p:cNvSpPr txBox="1"/>
          <p:nvPr/>
        </p:nvSpPr>
        <p:spPr>
          <a:xfrm>
            <a:off x="4325112" y="2825496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Coverage Universe</a:t>
            </a:r>
          </a:p>
        </p:txBody>
      </p:sp>
      <p:sp>
        <p:nvSpPr>
          <p:cNvPr id="18" name="Arrow 18"/>
          <p:cNvSpPr/>
          <p:nvPr/>
        </p:nvSpPr>
        <p:spPr>
          <a:xfrm>
            <a:off x="6080760" y="3328416"/>
            <a:ext cx="0" cy="3840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9" name="100 Companies"/>
          <p:cNvSpPr/>
          <p:nvPr/>
        </p:nvSpPr>
        <p:spPr>
          <a:xfrm>
            <a:off x="4251960" y="3712464"/>
            <a:ext cx="3657600" cy="60350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100 Companies text"/>
          <p:cNvSpPr txBox="1"/>
          <p:nvPr/>
        </p:nvSpPr>
        <p:spPr>
          <a:xfrm>
            <a:off x="4325112" y="3813048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100 Companies</a:t>
            </a:r>
          </a:p>
        </p:txBody>
      </p:sp>
      <p:sp>
        <p:nvSpPr>
          <p:cNvPr id="21" name="Arrow 21"/>
          <p:cNvSpPr/>
          <p:nvPr/>
        </p:nvSpPr>
        <p:spPr>
          <a:xfrm>
            <a:off x="6080760" y="4315968"/>
            <a:ext cx="0" cy="38404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2" name="100 Results"/>
          <p:cNvSpPr/>
          <p:nvPr/>
        </p:nvSpPr>
        <p:spPr>
          <a:xfrm>
            <a:off x="4251960" y="4700016"/>
            <a:ext cx="3657600" cy="60350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100 Results text"/>
          <p:cNvSpPr txBox="1"/>
          <p:nvPr/>
        </p:nvSpPr>
        <p:spPr>
          <a:xfrm>
            <a:off x="4325112" y="4800600"/>
            <a:ext cx="3511296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100 Results</a:t>
            </a:r>
          </a:p>
        </p:txBody>
      </p:sp>
      <p:sp>
        <p:nvSpPr>
          <p:cNvPr id="24" name="Caption"/>
          <p:cNvSpPr txBox="1"/>
          <p:nvPr/>
        </p:nvSpPr>
        <p:spPr>
          <a:xfrm>
            <a:off x="3063240" y="5577840"/>
            <a:ext cx="6080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50" dirty="0">
                <a:b/>
                <a:solidFill>
                  <a:srgbClr val="AAB2BF"/>
                </a:solidFill>
                <a:latin typeface="Inter"/>
                <a:cs typeface="Inter"/>
              </a:rPr>
              <a:t>Methodology becomes a reusable operating asset.</a:t>
            </a:r>
          </a:p>
        </p:txBody>
      </p:sp>
      <p:sp>
        <p:nvSpPr>
          <p:cNvPr id="25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6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Trading Desk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Question"/>
          <p:cNvSpPr txBox="1"/>
          <p:nvPr/>
        </p:nvSpPr>
        <p:spPr>
          <a:xfrm>
            <a:off x="566928" y="12984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150" dirty="0">
                <a:b/>
                <a:solidFill>
                  <a:srgbClr val="58A6FF"/>
                </a:solidFill>
                <a:latin typeface="Inter"/>
                <a:cs typeface="Inter"/>
              </a:rPr>
              <a:t>How do I fold real-time knowledge into the decision process?</a:t>
            </a:r>
          </a:p>
        </p:txBody>
      </p:sp>
      <p:sp>
        <p:nvSpPr>
          <p:cNvPr id="13" name="Current"/>
          <p:cNvSpPr txBox="1"/>
          <p:nvPr/>
        </p:nvSpPr>
        <p:spPr>
          <a:xfrm>
            <a:off x="822960" y="18745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Current state</a:t>
            </a:r>
          </a:p>
        </p:txBody>
      </p:sp>
      <p:sp>
        <p:nvSpPr>
          <p:cNvPr id="14" name="Trader"/>
          <p:cNvSpPr/>
          <p:nvPr/>
        </p:nvSpPr>
        <p:spPr>
          <a:xfrm>
            <a:off x="822960" y="2395728"/>
            <a:ext cx="1417320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Trader text"/>
          <p:cNvSpPr txBox="1"/>
          <p:nvPr/>
        </p:nvSpPr>
        <p:spPr>
          <a:xfrm>
            <a:off x="896112" y="2496312"/>
            <a:ext cx="1271016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Trader</a:t>
            </a:r>
          </a:p>
        </p:txBody>
      </p:sp>
      <p:sp>
        <p:nvSpPr>
          <p:cNvPr id="16" name="Arrow 16"/>
          <p:cNvSpPr/>
          <p:nvPr/>
        </p:nvSpPr>
        <p:spPr>
          <a:xfrm>
            <a:off x="2240280" y="2670048"/>
            <a:ext cx="731520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7" name="Chat"/>
          <p:cNvSpPr/>
          <p:nvPr/>
        </p:nvSpPr>
        <p:spPr>
          <a:xfrm>
            <a:off x="2971800" y="2395728"/>
            <a:ext cx="1417320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8" name="Chat text"/>
          <p:cNvSpPr txBox="1"/>
          <p:nvPr/>
        </p:nvSpPr>
        <p:spPr>
          <a:xfrm>
            <a:off x="3044952" y="2496312"/>
            <a:ext cx="1271016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Chat</a:t>
            </a:r>
          </a:p>
        </p:txBody>
      </p:sp>
      <p:sp>
        <p:nvSpPr>
          <p:cNvPr id="19" name="Arrow 19"/>
          <p:cNvSpPr/>
          <p:nvPr/>
        </p:nvSpPr>
        <p:spPr>
          <a:xfrm>
            <a:off x="4389120" y="2670048"/>
            <a:ext cx="731520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0" name="Phone Call"/>
          <p:cNvSpPr/>
          <p:nvPr/>
        </p:nvSpPr>
        <p:spPr>
          <a:xfrm>
            <a:off x="5120640" y="2395728"/>
            <a:ext cx="1417320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Phone Call text"/>
          <p:cNvSpPr txBox="1"/>
          <p:nvPr/>
        </p:nvSpPr>
        <p:spPr>
          <a:xfrm>
            <a:off x="5193792" y="2496312"/>
            <a:ext cx="1271016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Phone Call</a:t>
            </a:r>
          </a:p>
        </p:txBody>
      </p:sp>
      <p:sp>
        <p:nvSpPr>
          <p:cNvPr id="22" name="Arrow 22"/>
          <p:cNvSpPr/>
          <p:nvPr/>
        </p:nvSpPr>
        <p:spPr>
          <a:xfrm>
            <a:off x="6537960" y="2670048"/>
            <a:ext cx="731520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3" name="Lost"/>
          <p:cNvSpPr/>
          <p:nvPr/>
        </p:nvSpPr>
        <p:spPr>
          <a:xfrm>
            <a:off x="7269480" y="2395728"/>
            <a:ext cx="1417320" cy="548640"/>
          </a:xfrm>
          <a:prstGeom prst="roundRect">
            <a:avLst/>
          </a:prstGeom>
          <a:solidFill>
            <a:srgbClr val="311A1C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4" name="Lost text"/>
          <p:cNvSpPr txBox="1"/>
          <p:nvPr/>
        </p:nvSpPr>
        <p:spPr>
          <a:xfrm>
            <a:off x="7342632" y="2496312"/>
            <a:ext cx="1271016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E35D5B"/>
                </a:solidFill>
                <a:latin typeface="Inter"/>
                <a:cs typeface="Inter"/>
              </a:rPr>
              <a:t>Lost</a:t>
            </a:r>
          </a:p>
        </p:txBody>
      </p:sp>
      <p:sp>
        <p:nvSpPr>
          <p:cNvPr id="25" name="Future"/>
          <p:cNvSpPr txBox="1"/>
          <p:nvPr/>
        </p:nvSpPr>
        <p:spPr>
          <a:xfrm>
            <a:off x="822960" y="397764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8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Future state</a:t>
            </a:r>
          </a:p>
        </p:txBody>
      </p:sp>
      <p:sp>
        <p:nvSpPr>
          <p:cNvPr id="26" name="Trader"/>
          <p:cNvSpPr/>
          <p:nvPr/>
        </p:nvSpPr>
        <p:spPr>
          <a:xfrm>
            <a:off x="822960" y="4498848"/>
            <a:ext cx="1481328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7" name="Trader text"/>
          <p:cNvSpPr txBox="1"/>
          <p:nvPr/>
        </p:nvSpPr>
        <p:spPr>
          <a:xfrm>
            <a:off x="896112" y="4599432"/>
            <a:ext cx="1335024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Trader</a:t>
            </a:r>
          </a:p>
        </p:txBody>
      </p:sp>
      <p:sp>
        <p:nvSpPr>
          <p:cNvPr id="28" name="Arrow 28"/>
          <p:cNvSpPr/>
          <p:nvPr/>
        </p:nvSpPr>
        <p:spPr>
          <a:xfrm>
            <a:off x="2304288" y="4773168"/>
            <a:ext cx="512064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9" name="YAP"/>
          <p:cNvSpPr/>
          <p:nvPr/>
        </p:nvSpPr>
        <p:spPr>
          <a:xfrm>
            <a:off x="2816352" y="4498848"/>
            <a:ext cx="1481328" cy="548640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0" name="YAP text"/>
          <p:cNvSpPr txBox="1"/>
          <p:nvPr/>
        </p:nvSpPr>
        <p:spPr>
          <a:xfrm>
            <a:off x="2889504" y="4599432"/>
            <a:ext cx="1335024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YAP</a:t>
            </a:r>
          </a:p>
        </p:txBody>
      </p:sp>
      <p:sp>
        <p:nvSpPr>
          <p:cNvPr id="31" name="Arrow 31"/>
          <p:cNvSpPr/>
          <p:nvPr/>
        </p:nvSpPr>
        <p:spPr>
          <a:xfrm>
            <a:off x="4297680" y="4773168"/>
            <a:ext cx="512064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32" name="Approved Memory"/>
          <p:cNvSpPr/>
          <p:nvPr/>
        </p:nvSpPr>
        <p:spPr>
          <a:xfrm>
            <a:off x="4809744" y="4498848"/>
            <a:ext cx="1481328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3" name="Approved Memory text"/>
          <p:cNvSpPr txBox="1"/>
          <p:nvPr/>
        </p:nvSpPr>
        <p:spPr>
          <a:xfrm>
            <a:off x="4882896" y="4599432"/>
            <a:ext cx="1335024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Approved Memory</a:t>
            </a:r>
          </a:p>
        </p:txBody>
      </p:sp>
      <p:sp>
        <p:nvSpPr>
          <p:cNvPr id="34" name="Arrow 34"/>
          <p:cNvSpPr/>
          <p:nvPr/>
        </p:nvSpPr>
        <p:spPr>
          <a:xfrm>
            <a:off x="6291072" y="4773168"/>
            <a:ext cx="512064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35" name="Forecast"/>
          <p:cNvSpPr/>
          <p:nvPr/>
        </p:nvSpPr>
        <p:spPr>
          <a:xfrm>
            <a:off x="6803136" y="4498848"/>
            <a:ext cx="1481328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6" name="Forecast text"/>
          <p:cNvSpPr txBox="1"/>
          <p:nvPr/>
        </p:nvSpPr>
        <p:spPr>
          <a:xfrm>
            <a:off x="6876288" y="4599432"/>
            <a:ext cx="1335024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Forecast</a:t>
            </a:r>
          </a:p>
        </p:txBody>
      </p:sp>
      <p:sp>
        <p:nvSpPr>
          <p:cNvPr id="37" name="Arrow 37"/>
          <p:cNvSpPr/>
          <p:nvPr/>
        </p:nvSpPr>
        <p:spPr>
          <a:xfrm>
            <a:off x="8284464" y="4773168"/>
            <a:ext cx="512064" cy="0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38" name="Decision"/>
          <p:cNvSpPr/>
          <p:nvPr/>
        </p:nvSpPr>
        <p:spPr>
          <a:xfrm>
            <a:off x="8796528" y="4498848"/>
            <a:ext cx="1481328" cy="548640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9" name="Decision text"/>
          <p:cNvSpPr txBox="1"/>
          <p:nvPr/>
        </p:nvSpPr>
        <p:spPr>
          <a:xfrm>
            <a:off x="8869680" y="4599432"/>
            <a:ext cx="1335024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Decision</a:t>
            </a:r>
          </a:p>
        </p:txBody>
      </p:sp>
      <p:sp>
        <p:nvSpPr>
          <p:cNvPr id="40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41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Market Knowledge Should Compound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Observation"/>
          <p:cNvSpPr/>
          <p:nvPr/>
        </p:nvSpPr>
        <p:spPr>
          <a:xfrm>
            <a:off x="4343400" y="1417320"/>
            <a:ext cx="3474720" cy="51206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Observation text"/>
          <p:cNvSpPr txBox="1"/>
          <p:nvPr/>
        </p:nvSpPr>
        <p:spPr>
          <a:xfrm>
            <a:off x="4416552" y="1517904"/>
            <a:ext cx="332841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Observation</a:t>
            </a:r>
          </a:p>
        </p:txBody>
      </p:sp>
      <p:sp>
        <p:nvSpPr>
          <p:cNvPr id="14" name="Arrow 14"/>
          <p:cNvSpPr/>
          <p:nvPr/>
        </p:nvSpPr>
        <p:spPr>
          <a:xfrm>
            <a:off x="6080760" y="1929384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5" name="Discussion"/>
          <p:cNvSpPr/>
          <p:nvPr/>
        </p:nvSpPr>
        <p:spPr>
          <a:xfrm>
            <a:off x="4343400" y="2221992"/>
            <a:ext cx="3474720" cy="51206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6" name="Discussion text"/>
          <p:cNvSpPr txBox="1"/>
          <p:nvPr/>
        </p:nvSpPr>
        <p:spPr>
          <a:xfrm>
            <a:off x="4416552" y="2322576"/>
            <a:ext cx="332841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Discussion</a:t>
            </a:r>
          </a:p>
        </p:txBody>
      </p:sp>
      <p:sp>
        <p:nvSpPr>
          <p:cNvPr id="17" name="Arrow 17"/>
          <p:cNvSpPr/>
          <p:nvPr/>
        </p:nvSpPr>
        <p:spPr>
          <a:xfrm>
            <a:off x="6080760" y="2734056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8" name="Review"/>
          <p:cNvSpPr/>
          <p:nvPr/>
        </p:nvSpPr>
        <p:spPr>
          <a:xfrm>
            <a:off x="4343400" y="3026664"/>
            <a:ext cx="3474720" cy="51206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Review text"/>
          <p:cNvSpPr txBox="1"/>
          <p:nvPr/>
        </p:nvSpPr>
        <p:spPr>
          <a:xfrm>
            <a:off x="4416552" y="3127248"/>
            <a:ext cx="332841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Review</a:t>
            </a:r>
          </a:p>
        </p:txBody>
      </p:sp>
      <p:sp>
        <p:nvSpPr>
          <p:cNvPr id="20" name="Arrow 20"/>
          <p:cNvSpPr/>
          <p:nvPr/>
        </p:nvSpPr>
        <p:spPr>
          <a:xfrm>
            <a:off x="6080760" y="3538728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1" name="Approved Memory"/>
          <p:cNvSpPr/>
          <p:nvPr/>
        </p:nvSpPr>
        <p:spPr>
          <a:xfrm>
            <a:off x="4343400" y="3831336"/>
            <a:ext cx="3474720" cy="512064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2" name="Approved Memory text"/>
          <p:cNvSpPr txBox="1"/>
          <p:nvPr/>
        </p:nvSpPr>
        <p:spPr>
          <a:xfrm>
            <a:off x="4416552" y="3931920"/>
            <a:ext cx="332841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Approved Memory</a:t>
            </a:r>
          </a:p>
        </p:txBody>
      </p:sp>
      <p:sp>
        <p:nvSpPr>
          <p:cNvPr id="23" name="Arrow 23"/>
          <p:cNvSpPr/>
          <p:nvPr/>
        </p:nvSpPr>
        <p:spPr>
          <a:xfrm>
            <a:off x="6080760" y="4343400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4" name="Future Decisions"/>
          <p:cNvSpPr/>
          <p:nvPr/>
        </p:nvSpPr>
        <p:spPr>
          <a:xfrm>
            <a:off x="4343400" y="4636008"/>
            <a:ext cx="3474720" cy="512064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5" name="Future Decisions text"/>
          <p:cNvSpPr txBox="1"/>
          <p:nvPr/>
        </p:nvSpPr>
        <p:spPr>
          <a:xfrm>
            <a:off x="4416552" y="4736592"/>
            <a:ext cx="3328416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Future Decisions</a:t>
            </a:r>
          </a:p>
        </p:txBody>
      </p:sp>
      <p:sp>
        <p:nvSpPr>
          <p:cNvPr id="26" name="Message"/>
          <p:cNvSpPr txBox="1"/>
          <p:nvPr/>
        </p:nvSpPr>
        <p:spPr>
          <a:xfrm>
            <a:off x="914400" y="516636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80" dirty="0">
                <a:b/>
                <a:solidFill>
                  <a:srgbClr val="AAB2BF"/>
                </a:solidFill>
                <a:latin typeface="Inter"/>
                <a:cs typeface="Inter"/>
              </a:rPr>
              <a:t>Research compounds.</a:t>
            </a:r>
          </a:p>
        </p:txBody>
      </p:sp>
      <p:sp>
        <p:nvSpPr>
          <p:cNvPr id="27" name="Message"/>
          <p:cNvSpPr txBox="1"/>
          <p:nvPr/>
        </p:nvSpPr>
        <p:spPr>
          <a:xfrm>
            <a:off x="914400" y="5477256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80" dirty="0">
                <a:b/>
                <a:solidFill>
                  <a:srgbClr val="AAB2BF"/>
                </a:solidFill>
                <a:latin typeface="Inter"/>
                <a:cs typeface="Inter"/>
              </a:rPr>
              <a:t>Data compounds.</a:t>
            </a:r>
          </a:p>
        </p:txBody>
      </p:sp>
      <p:sp>
        <p:nvSpPr>
          <p:cNvPr id="28" name="Message"/>
          <p:cNvSpPr txBox="1"/>
          <p:nvPr/>
        </p:nvSpPr>
        <p:spPr>
          <a:xfrm>
            <a:off x="914400" y="578815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980" dirty="0">
                <a:b/>
                <a:solidFill>
                  <a:srgbClr val="F5F7FA"/>
                </a:solidFill>
                <a:latin typeface="Inter"/>
                <a:cs typeface="Inter"/>
              </a:rPr>
              <a:t>Market knowledge should compound too.</a:t>
            </a:r>
          </a:p>
        </p:txBody>
      </p:sp>
      <p:sp>
        <p:nvSpPr>
          <p:cNvPr id="29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0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Compliance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Question"/>
          <p:cNvSpPr txBox="1"/>
          <p:nvPr/>
        </p:nvSpPr>
        <p:spPr>
          <a:xfrm>
            <a:off x="566928" y="129844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1250" dirty="0">
                <a:b/>
                <a:solidFill>
                  <a:srgbClr val="58A6FF"/>
                </a:solidFill>
                <a:latin typeface="Inter"/>
                <a:cs typeface="Inter"/>
              </a:rPr>
              <a:t>Can I reconstruct the decision?</a:t>
            </a:r>
          </a:p>
        </p:txBody>
      </p:sp>
      <p:sp>
        <p:nvSpPr>
          <p:cNvPr id="13" name="Data"/>
          <p:cNvSpPr/>
          <p:nvPr/>
        </p:nvSpPr>
        <p:spPr>
          <a:xfrm>
            <a:off x="4663440" y="1645920"/>
            <a:ext cx="292608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Data text"/>
          <p:cNvSpPr txBox="1"/>
          <p:nvPr/>
        </p:nvSpPr>
        <p:spPr>
          <a:xfrm>
            <a:off x="4736592" y="1746504"/>
            <a:ext cx="2779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Data</a:t>
            </a:r>
          </a:p>
        </p:txBody>
      </p:sp>
      <p:sp>
        <p:nvSpPr>
          <p:cNvPr id="15" name="Arrow 15"/>
          <p:cNvSpPr/>
          <p:nvPr/>
        </p:nvSpPr>
        <p:spPr>
          <a:xfrm>
            <a:off x="6126480" y="2176272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6" name="Evidence"/>
          <p:cNvSpPr/>
          <p:nvPr/>
        </p:nvSpPr>
        <p:spPr>
          <a:xfrm>
            <a:off x="4663440" y="2468880"/>
            <a:ext cx="292608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Evidence text"/>
          <p:cNvSpPr txBox="1"/>
          <p:nvPr/>
        </p:nvSpPr>
        <p:spPr>
          <a:xfrm>
            <a:off x="4736592" y="2569464"/>
            <a:ext cx="2779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Evidence</a:t>
            </a:r>
          </a:p>
        </p:txBody>
      </p:sp>
      <p:sp>
        <p:nvSpPr>
          <p:cNvPr id="18" name="Arrow 18"/>
          <p:cNvSpPr/>
          <p:nvPr/>
        </p:nvSpPr>
        <p:spPr>
          <a:xfrm>
            <a:off x="6126480" y="2999232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9" name="Decision"/>
          <p:cNvSpPr/>
          <p:nvPr/>
        </p:nvSpPr>
        <p:spPr>
          <a:xfrm>
            <a:off x="4663440" y="3291840"/>
            <a:ext cx="2926080" cy="530352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Decision text"/>
          <p:cNvSpPr txBox="1"/>
          <p:nvPr/>
        </p:nvSpPr>
        <p:spPr>
          <a:xfrm>
            <a:off x="4736592" y="3392424"/>
            <a:ext cx="2779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Decision</a:t>
            </a:r>
          </a:p>
        </p:txBody>
      </p:sp>
      <p:sp>
        <p:nvSpPr>
          <p:cNvPr id="21" name="Arrow 21"/>
          <p:cNvSpPr/>
          <p:nvPr/>
        </p:nvSpPr>
        <p:spPr>
          <a:xfrm>
            <a:off x="6126480" y="3822192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2" name="Replay"/>
          <p:cNvSpPr/>
          <p:nvPr/>
        </p:nvSpPr>
        <p:spPr>
          <a:xfrm>
            <a:off x="4663440" y="4114800"/>
            <a:ext cx="2926080" cy="53035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Replay text"/>
          <p:cNvSpPr txBox="1"/>
          <p:nvPr/>
        </p:nvSpPr>
        <p:spPr>
          <a:xfrm>
            <a:off x="4736592" y="4215384"/>
            <a:ext cx="2779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Replay</a:t>
            </a:r>
          </a:p>
        </p:txBody>
      </p:sp>
      <p:sp>
        <p:nvSpPr>
          <p:cNvPr id="24" name="Arrow 24"/>
          <p:cNvSpPr/>
          <p:nvPr/>
        </p:nvSpPr>
        <p:spPr>
          <a:xfrm>
            <a:off x="6126480" y="4645152"/>
            <a:ext cx="0" cy="292608"/>
          </a:xfrm>
          <a:prstGeom prst="line">
            <a:avLst/>
          </a:prstGeom>
          <a:ln w="16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5" name="Audit"/>
          <p:cNvSpPr/>
          <p:nvPr/>
        </p:nvSpPr>
        <p:spPr>
          <a:xfrm>
            <a:off x="4663440" y="4937760"/>
            <a:ext cx="2926080" cy="530352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Audit text"/>
          <p:cNvSpPr txBox="1"/>
          <p:nvPr/>
        </p:nvSpPr>
        <p:spPr>
          <a:xfrm>
            <a:off x="4736592" y="5038344"/>
            <a:ext cx="277977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Audit</a:t>
            </a:r>
          </a:p>
        </p:txBody>
      </p:sp>
      <p:sp>
        <p:nvSpPr>
          <p:cNvPr id="27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8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/>
          <p:cNvSpPr txBox="1"/>
          <p:nvPr/>
        </p:nvSpPr>
        <p:spPr>
          <a:xfrm>
            <a:off x="502920" y="292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760" dirty="0">
                <a:b/>
                <a:solidFill>
                  <a:srgbClr val="58A6FF"/>
                </a:solidFill>
                <a:latin typeface="Aptos Mono"/>
                <a:cs typeface="Aptos Mono"/>
              </a:rPr>
              <a:t>ONTOLOGY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The Decision Model</a:t>
            </a:r>
          </a:p>
        </p:txBody>
      </p:sp>
      <p:sp>
        <p:nvSpPr>
          <p:cNvPr id="12" name="Arrow 1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Decision Model"/>
          <p:cNvSpPr/>
          <p:nvPr/>
        </p:nvSpPr>
        <p:spPr>
          <a:xfrm>
            <a:off x="4389120" y="1298448"/>
            <a:ext cx="3383280" cy="438912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4" name="Decision Model text"/>
          <p:cNvSpPr txBox="1"/>
          <p:nvPr/>
        </p:nvSpPr>
        <p:spPr>
          <a:xfrm>
            <a:off x="4462272" y="1399032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Decision Model</a:t>
            </a:r>
          </a:p>
        </p:txBody>
      </p:sp>
      <p:sp>
        <p:nvSpPr>
          <p:cNvPr id="15" name="Arrow 15"/>
          <p:cNvSpPr/>
          <p:nvPr/>
        </p:nvSpPr>
        <p:spPr>
          <a:xfrm>
            <a:off x="6080760" y="1737360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6" name="Version"/>
          <p:cNvSpPr/>
          <p:nvPr/>
        </p:nvSpPr>
        <p:spPr>
          <a:xfrm>
            <a:off x="4389120" y="1956816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Version text"/>
          <p:cNvSpPr txBox="1"/>
          <p:nvPr/>
        </p:nvSpPr>
        <p:spPr>
          <a:xfrm>
            <a:off x="4462272" y="2057400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Version</a:t>
            </a:r>
          </a:p>
        </p:txBody>
      </p:sp>
      <p:sp>
        <p:nvSpPr>
          <p:cNvPr id="18" name="Arrow 18"/>
          <p:cNvSpPr/>
          <p:nvPr/>
        </p:nvSpPr>
        <p:spPr>
          <a:xfrm>
            <a:off x="6080760" y="2395728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19" name="Scenario"/>
          <p:cNvSpPr/>
          <p:nvPr/>
        </p:nvSpPr>
        <p:spPr>
          <a:xfrm>
            <a:off x="4389120" y="2615184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Scenario text"/>
          <p:cNvSpPr txBox="1"/>
          <p:nvPr/>
        </p:nvSpPr>
        <p:spPr>
          <a:xfrm>
            <a:off x="4462272" y="2715768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Scenario</a:t>
            </a:r>
          </a:p>
        </p:txBody>
      </p:sp>
      <p:sp>
        <p:nvSpPr>
          <p:cNvPr id="21" name="Arrow 21"/>
          <p:cNvSpPr/>
          <p:nvPr/>
        </p:nvSpPr>
        <p:spPr>
          <a:xfrm>
            <a:off x="6080760" y="3054096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2" name="Run"/>
          <p:cNvSpPr/>
          <p:nvPr/>
        </p:nvSpPr>
        <p:spPr>
          <a:xfrm>
            <a:off x="4389120" y="3273552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Run text"/>
          <p:cNvSpPr txBox="1"/>
          <p:nvPr/>
        </p:nvSpPr>
        <p:spPr>
          <a:xfrm>
            <a:off x="4462272" y="3374136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Run</a:t>
            </a:r>
          </a:p>
        </p:txBody>
      </p:sp>
      <p:sp>
        <p:nvSpPr>
          <p:cNvPr id="24" name="Arrow 24"/>
          <p:cNvSpPr/>
          <p:nvPr/>
        </p:nvSpPr>
        <p:spPr>
          <a:xfrm>
            <a:off x="6080760" y="3712464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5" name="Result"/>
          <p:cNvSpPr/>
          <p:nvPr/>
        </p:nvSpPr>
        <p:spPr>
          <a:xfrm>
            <a:off x="4389120" y="3931920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6" name="Result text"/>
          <p:cNvSpPr txBox="1"/>
          <p:nvPr/>
        </p:nvSpPr>
        <p:spPr>
          <a:xfrm>
            <a:off x="4462272" y="4032504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Result</a:t>
            </a:r>
          </a:p>
        </p:txBody>
      </p:sp>
      <p:sp>
        <p:nvSpPr>
          <p:cNvPr id="27" name="Arrow 27"/>
          <p:cNvSpPr/>
          <p:nvPr/>
        </p:nvSpPr>
        <p:spPr>
          <a:xfrm>
            <a:off x="6080760" y="4370832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28" name="Replay"/>
          <p:cNvSpPr/>
          <p:nvPr/>
        </p:nvSpPr>
        <p:spPr>
          <a:xfrm>
            <a:off x="4389120" y="4590288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9" name="Replay text"/>
          <p:cNvSpPr txBox="1"/>
          <p:nvPr/>
        </p:nvSpPr>
        <p:spPr>
          <a:xfrm>
            <a:off x="4462272" y="4690872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Replay</a:t>
            </a:r>
          </a:p>
        </p:txBody>
      </p:sp>
      <p:sp>
        <p:nvSpPr>
          <p:cNvPr id="30" name="Arrow 30"/>
          <p:cNvSpPr/>
          <p:nvPr/>
        </p:nvSpPr>
        <p:spPr>
          <a:xfrm>
            <a:off x="6080760" y="5029200"/>
            <a:ext cx="0" cy="219456"/>
          </a:xfrm>
          <a:prstGeom prst="line">
            <a:avLst/>
          </a:prstGeom>
          <a:ln w="12000">
            <a:solidFill>
              <a:srgbClr val="283847"/>
            </a:solidFill>
            <a:tailEnd type="triangle" w="sm" len="sm"/>
          </a:ln>
        </p:spPr>
        <p:txBody>
          <a:bodyPr/>
          <a:lstStyle/>
          <a:p/>
        </p:txBody>
      </p:sp>
      <p:sp>
        <p:nvSpPr>
          <p:cNvPr id="31" name="Audit"/>
          <p:cNvSpPr/>
          <p:nvPr/>
        </p:nvSpPr>
        <p:spPr>
          <a:xfrm>
            <a:off x="4389120" y="5248656"/>
            <a:ext cx="3383280" cy="438912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32" name="Audit text"/>
          <p:cNvSpPr txBox="1"/>
          <p:nvPr/>
        </p:nvSpPr>
        <p:spPr>
          <a:xfrm>
            <a:off x="4462272" y="5349240"/>
            <a:ext cx="32369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Audit</a:t>
            </a:r>
          </a:p>
        </p:txBody>
      </p:sp>
      <p:sp>
        <p:nvSpPr>
          <p:cNvPr id="33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34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Workbook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Workbook"/>
          <p:cNvSpPr/>
          <p:nvPr/>
        </p:nvSpPr>
        <p:spPr>
          <a:xfrm>
            <a:off x="4572000" y="1874520"/>
            <a:ext cx="3063240" cy="640080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Workbook text"/>
          <p:cNvSpPr txBox="1"/>
          <p:nvPr/>
        </p:nvSpPr>
        <p:spPr>
          <a:xfrm>
            <a:off x="4645152" y="1975104"/>
            <a:ext cx="2916936" cy="493776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Workbook</a:t>
            </a:r>
          </a:p>
        </p:txBody>
      </p:sp>
      <p:sp>
        <p:nvSpPr>
          <p:cNvPr id="14" name="Spreadsheet"/>
          <p:cNvSpPr/>
          <p:nvPr/>
        </p:nvSpPr>
        <p:spPr>
          <a:xfrm>
            <a:off x="2880360" y="3364992"/>
            <a:ext cx="224028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Spreadsheet text"/>
          <p:cNvSpPr txBox="1"/>
          <p:nvPr/>
        </p:nvSpPr>
        <p:spPr>
          <a:xfrm>
            <a:off x="2953512" y="3465576"/>
            <a:ext cx="209397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Spreadsheet</a:t>
            </a:r>
          </a:p>
        </p:txBody>
      </p:sp>
      <p:sp>
        <p:nvSpPr>
          <p:cNvPr id="16" name="Document"/>
          <p:cNvSpPr/>
          <p:nvPr/>
        </p:nvSpPr>
        <p:spPr>
          <a:xfrm>
            <a:off x="7086600" y="3364992"/>
            <a:ext cx="2240280" cy="56692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Document text"/>
          <p:cNvSpPr txBox="1"/>
          <p:nvPr/>
        </p:nvSpPr>
        <p:spPr>
          <a:xfrm>
            <a:off x="7159752" y="3465576"/>
            <a:ext cx="2093976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Document</a:t>
            </a:r>
          </a:p>
        </p:txBody>
      </p:sp>
      <p:sp>
        <p:nvSpPr>
          <p:cNvPr id="18" name="Arrow 18"/>
          <p:cNvSpPr/>
          <p:nvPr/>
        </p:nvSpPr>
        <p:spPr>
          <a:xfrm flipH="1">
            <a:off x="4005072" y="2514600"/>
            <a:ext cx="2103120" cy="850392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Arrow 19"/>
          <p:cNvSpPr/>
          <p:nvPr/>
        </p:nvSpPr>
        <p:spPr>
          <a:xfrm>
            <a:off x="6108192" y="2514600"/>
            <a:ext cx="2103120" cy="850392"/>
          </a:xfrm>
          <a:prstGeom prst="line">
            <a:avLst/>
          </a:prstGeom>
          <a:ln w="16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0" name="Caption"/>
          <p:cNvSpPr txBox="1"/>
          <p:nvPr/>
        </p:nvSpPr>
        <p:spPr>
          <a:xfrm>
            <a:off x="2926080" y="48920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180" dirty="0">
                <a:b/>
                <a:solidFill>
                  <a:srgbClr val="AAB2BF"/>
                </a:solidFill>
                <a:latin typeface="Inter"/>
                <a:cs typeface="Inter"/>
              </a:rPr>
              <a:t>Different surfaces.</a:t>
            </a:r>
          </a:p>
          <a:p>
            <a:pPr algn="ctr"/>
            <a:r>
              <a:rPr lang="en-US" sz="1180" dirty="0">
                <a:b/>
                <a:solidFill>
                  <a:srgbClr val="F5F7FA"/>
                </a:solidFill>
                <a:latin typeface="Inter"/>
                <a:cs typeface="Inter"/>
              </a:rPr>
              <a:t>Same governed substrate.</a:t>
            </a:r>
          </a:p>
        </p:txBody>
      </p:sp>
      <p:sp>
        <p:nvSpPr>
          <p:cNvPr id="21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2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2050" dirty="0">
                <a:b/>
                <a:solidFill>
                  <a:srgbClr val="F5F7FA"/>
                </a:solidFill>
                <a:latin typeface="Inter"/>
                <a:cs typeface="Inter"/>
              </a:rPr>
              <a:t>Why Firms Adopt $fin123</a:t>
            </a:r>
          </a:p>
        </p:txBody>
      </p:sp>
      <p:sp>
        <p:nvSpPr>
          <p:cNvPr id="11" name="Arrow 11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ln w="9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2" name="Better Forecasts"/>
          <p:cNvSpPr/>
          <p:nvPr/>
        </p:nvSpPr>
        <p:spPr>
          <a:xfrm>
            <a:off x="914400" y="1645920"/>
            <a:ext cx="2926080" cy="65836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3" name="Better Forecasts text"/>
          <p:cNvSpPr txBox="1"/>
          <p:nvPr/>
        </p:nvSpPr>
        <p:spPr>
          <a:xfrm>
            <a:off x="987552" y="1746504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Better Forecasts</a:t>
            </a:r>
          </a:p>
        </p:txBody>
      </p:sp>
      <p:sp>
        <p:nvSpPr>
          <p:cNvPr id="14" name="Faster Research"/>
          <p:cNvSpPr/>
          <p:nvPr/>
        </p:nvSpPr>
        <p:spPr>
          <a:xfrm>
            <a:off x="4617720" y="1645920"/>
            <a:ext cx="2926080" cy="65836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5" name="Faster Research text"/>
          <p:cNvSpPr txBox="1"/>
          <p:nvPr/>
        </p:nvSpPr>
        <p:spPr>
          <a:xfrm>
            <a:off x="4690872" y="1746504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Faster Research</a:t>
            </a:r>
          </a:p>
        </p:txBody>
      </p:sp>
      <p:sp>
        <p:nvSpPr>
          <p:cNvPr id="16" name="Institutional Memory"/>
          <p:cNvSpPr/>
          <p:nvPr/>
        </p:nvSpPr>
        <p:spPr>
          <a:xfrm>
            <a:off x="8321040" y="1645920"/>
            <a:ext cx="2926080" cy="65836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7" name="Institutional Memory text"/>
          <p:cNvSpPr txBox="1"/>
          <p:nvPr/>
        </p:nvSpPr>
        <p:spPr>
          <a:xfrm>
            <a:off x="8394192" y="1746504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Institutional Memory</a:t>
            </a:r>
          </a:p>
        </p:txBody>
      </p:sp>
      <p:sp>
        <p:nvSpPr>
          <p:cNvPr id="18" name="Replayable Decisions"/>
          <p:cNvSpPr/>
          <p:nvPr/>
        </p:nvSpPr>
        <p:spPr>
          <a:xfrm>
            <a:off x="914400" y="2761488"/>
            <a:ext cx="2926080" cy="65836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19" name="Replayable Decisions text"/>
          <p:cNvSpPr txBox="1"/>
          <p:nvPr/>
        </p:nvSpPr>
        <p:spPr>
          <a:xfrm>
            <a:off x="987552" y="2862072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Replayable Decisions</a:t>
            </a:r>
          </a:p>
        </p:txBody>
      </p:sp>
      <p:sp>
        <p:nvSpPr>
          <p:cNvPr id="20" name="Governed AI"/>
          <p:cNvSpPr/>
          <p:nvPr/>
        </p:nvSpPr>
        <p:spPr>
          <a:xfrm>
            <a:off x="4617720" y="2761488"/>
            <a:ext cx="2926080" cy="658368"/>
          </a:xfrm>
          <a:prstGeom prst="roundRect">
            <a:avLst/>
          </a:prstGeom>
          <a:solidFill>
            <a:srgbClr val="111A24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1" name="Governed AI text"/>
          <p:cNvSpPr txBox="1"/>
          <p:nvPr/>
        </p:nvSpPr>
        <p:spPr>
          <a:xfrm>
            <a:off x="4690872" y="2862072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F5F7FA"/>
                </a:solidFill>
                <a:latin typeface="Inter"/>
                <a:cs typeface="Inter"/>
              </a:rPr>
              <a:t>Governed AI</a:t>
            </a:r>
          </a:p>
        </p:txBody>
      </p:sp>
      <p:sp>
        <p:nvSpPr>
          <p:cNvPr id="22" name="Decision Infrastructure"/>
          <p:cNvSpPr/>
          <p:nvPr/>
        </p:nvSpPr>
        <p:spPr>
          <a:xfrm>
            <a:off x="8321040" y="2761488"/>
            <a:ext cx="2926080" cy="658368"/>
          </a:xfrm>
          <a:prstGeom prst="roundRect">
            <a:avLst/>
          </a:prstGeom>
          <a:solidFill>
            <a:srgbClr val="12314A"/>
          </a:solidFill>
          <a:ln w="12000">
            <a:solidFill>
              <a:srgbClr val="283847"/>
            </a:solidFill>
          </a:ln>
        </p:spPr>
        <p:txBody>
          <a:bodyPr/>
          <a:lstStyle/>
          <a:p/>
        </p:txBody>
      </p:sp>
      <p:sp>
        <p:nvSpPr>
          <p:cNvPr id="23" name="Decision Infrastructure text"/>
          <p:cNvSpPr txBox="1"/>
          <p:nvPr/>
        </p:nvSpPr>
        <p:spPr>
          <a:xfrm>
            <a:off x="8394192" y="2862072"/>
            <a:ext cx="2779776" cy="512064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80" dirty="0">
                <a:b/>
                <a:solidFill>
                  <a:srgbClr val="58A6FF"/>
                </a:solidFill>
                <a:latin typeface="Inter"/>
                <a:cs typeface="Inter"/>
              </a:rPr>
              <a:t>Decision Infrastructure</a:t>
            </a:r>
          </a:p>
        </p:txBody>
      </p:sp>
      <p:sp>
        <p:nvSpPr>
          <p:cNvPr id="24" name="Final"/>
          <p:cNvSpPr txBox="1"/>
          <p:nvPr/>
        </p:nvSpPr>
        <p:spPr>
          <a:xfrm>
            <a:off x="1097280" y="461772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20" dirty="0">
                <a:b/>
                <a:solidFill>
                  <a:srgbClr val="AAB2BF"/>
                </a:solidFill>
                <a:latin typeface="Inter"/>
                <a:cs typeface="Inter"/>
              </a:rPr>
              <a:t>The industry built infrastructure around data.</a:t>
            </a:r>
          </a:p>
        </p:txBody>
      </p:sp>
      <p:sp>
        <p:nvSpPr>
          <p:cNvPr id="25" name="Final"/>
          <p:cNvSpPr txBox="1"/>
          <p:nvPr/>
        </p:nvSpPr>
        <p:spPr>
          <a:xfrm>
            <a:off x="1097280" y="4965192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20" dirty="0">
                <a:b/>
                <a:solidFill>
                  <a:srgbClr val="AAB2BF"/>
                </a:solidFill>
                <a:latin typeface="Inter"/>
                <a:cs typeface="Inter"/>
              </a:rPr>
              <a:t>The industry built infrastructure around execution.</a:t>
            </a:r>
          </a:p>
        </p:txBody>
      </p:sp>
      <p:sp>
        <p:nvSpPr>
          <p:cNvPr id="26" name="Final"/>
          <p:cNvSpPr txBox="1"/>
          <p:nvPr/>
        </p:nvSpPr>
        <p:spPr>
          <a:xfrm>
            <a:off x="1097280" y="5312664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020" dirty="0">
                <a:b/>
                <a:solidFill>
                  <a:srgbClr val="F5F7FA"/>
                </a:solidFill>
                <a:latin typeface="Inter"/>
                <a:cs typeface="Inter"/>
              </a:rPr>
              <a:t>$fin123 brings infrastructure to the decision process itself.</a:t>
            </a:r>
          </a:p>
        </p:txBody>
      </p:sp>
      <p:sp>
        <p:nvSpPr>
          <p:cNvPr id="27" name="Footer left"/>
          <p:cNvSpPr txBox="1"/>
          <p:nvPr/>
        </p:nvSpPr>
        <p:spPr>
          <a:xfrm>
            <a:off x="502920" y="6528816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US" sz="620" dirty="0">
                <a:b/>
                <a:solidFill>
                  <a:srgbClr val="75808C"/>
                </a:solidFill>
                <a:latin typeface="Aptos Mono"/>
                <a:cs typeface="Aptos Mono"/>
              </a:rPr>
              <a:t>$fin123</a:t>
            </a:r>
          </a:p>
        </p:txBody>
      </p:sp>
      <p:sp>
        <p:nvSpPr>
          <p:cNvPr id="28" name="Footer right"/>
          <p:cNvSpPr txBox="1"/>
          <p:nvPr/>
        </p:nvSpPr>
        <p:spPr>
          <a:xfrm>
            <a:off x="10972800" y="6528816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US" sz="620" dirty="0">
                <a:solidFill>
                  <a:srgbClr val="75808C"/>
                </a:solidFill>
                <a:latin typeface="Aptos Mono"/>
                <a:cs typeface="Aptos Mono"/>
              </a:rPr>
              <a:t>15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fin123 deck generator</Application>
  <PresentationFormat>On-screen Show (16:9)</PresentationFormat>
  <Slides>15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fin123 Decision Infrastructure for Investment Research</dc:title>
  <dc:creator>fin123</dc:creator>
  <cp:lastModifiedBy>fin123</cp:lastModifiedBy>
</cp:coreProperties>
</file>